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8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557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0160">
            <a:solidFill>
              <a:srgbClr val="D8DEE9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C8A9C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C8A9C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E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wide_cinematic_product_background_scene_in_a_dark.png"/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11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7315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0" b="1" dirty="0">
                <a:solidFill>
                  <a:srgbClr val="DCE8F7"/>
                </a:solidFill>
              </a:rPr>
              <a:t>СЛОБОДСКОЙ КОЛЛЕДЖ ПЕДАГОГИКИ И СОЦИАЛЬНЫХ ОТНОШЕНИЙ</a:t>
            </a:r>
            <a:endParaRPr lang="en-US" sz="730" dirty="0"/>
          </a:p>
        </p:txBody>
      </p:sp>
      <p:sp>
        <p:nvSpPr>
          <p:cNvPr id="5" name="Text 2"/>
          <p:cNvSpPr/>
          <p:nvPr/>
        </p:nvSpPr>
        <p:spPr>
          <a:xfrm>
            <a:off x="685800" y="114300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Разработка конфигурации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на платформе 1С:Предприятие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713232" y="2331720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DCE8F7"/>
                </a:solidFill>
              </a:rPr>
              <a:t>для учета и подбора автозапчастей по совместимости с автомобилями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713232" y="3127248"/>
            <a:ext cx="2240280" cy="0"/>
          </a:xfrm>
          <a:prstGeom prst="line">
            <a:avLst/>
          </a:prstGeom>
          <a:noFill/>
          <a:ln w="38100">
            <a:solidFill>
              <a:srgbClr val="F4C95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34015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6D6E8"/>
                </a:solidFill>
              </a:rPr>
              <a:t>Производственная практика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31520" y="6263640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DDAEA"/>
                </a:solidFill>
              </a:rPr>
              <a:t>1С:Предприятие • CRUD • отчеты • роли • резервное копирование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C8A9C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0" b="1" dirty="0">
                <a:solidFill>
                  <a:srgbClr val="2267B1"/>
                </a:solidFill>
              </a:rPr>
              <a:t>СЛОБОДСКОЙ КОЛЛЕДЖ ПЕДАГОГИКИ И СОЦИАЛЬНЫХ ОТНОШЕНИЙ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566928" y="283464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267B1"/>
                </a:solidFill>
              </a:rPr>
              <a:t>1. АНАЛИЗ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566928" y="585216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0B1E3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Анализ и предварительная обработка информации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107899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5758B"/>
                </a:solidFill>
              </a:rPr>
              <a:t>Предметная область — учет и подбор автозапчастей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6565392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4A6"/>
                </a:solidFill>
              </a:rPr>
              <a:t>Производственная практика • 1С:Предприятие • учет и подбор автозапчастей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731520" y="1508760"/>
            <a:ext cx="33375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E3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0392" y="1664208"/>
            <a:ext cx="73152" cy="923544"/>
          </a:xfrm>
          <a:prstGeom prst="rect">
            <a:avLst/>
          </a:prstGeom>
          <a:solidFill>
            <a:srgbClr val="D94D45"/>
          </a:solidFill>
          <a:ln w="12700">
            <a:solidFill>
              <a:srgbClr val="D94D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16642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1E34"/>
                </a:solidFill>
              </a:rPr>
              <a:t>Проблема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24128" y="2020824"/>
            <a:ext cx="292608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65758B"/>
                </a:solidFill>
              </a:rPr>
              <a:t>Одна запчасть может подходить нескольким автомобилям, а один автомобиль имеет множество совместимых деталей.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4434840" y="1508760"/>
            <a:ext cx="33375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E3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53712" y="1664208"/>
            <a:ext cx="73152" cy="923544"/>
          </a:xfrm>
          <a:prstGeom prst="rect">
            <a:avLst/>
          </a:prstGeom>
          <a:solidFill>
            <a:srgbClr val="F4C95D"/>
          </a:solidFill>
          <a:ln w="12700">
            <a:solidFill>
              <a:srgbClr val="F4C95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7448" y="16642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1E34"/>
                </a:solidFill>
              </a:rPr>
              <a:t>Риск ошибки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727448" y="2020824"/>
            <a:ext cx="292608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65758B"/>
                </a:solidFill>
              </a:rPr>
              <a:t>Неверный подбор приводит к возвратам, потере времени и снижению качества обслуживания.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8138160" y="1508760"/>
            <a:ext cx="33375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E3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57032" y="1664208"/>
            <a:ext cx="73152" cy="923544"/>
          </a:xfrm>
          <a:prstGeom prst="rect">
            <a:avLst/>
          </a:prstGeom>
          <a:solidFill>
            <a:srgbClr val="2EAD78"/>
          </a:solidFill>
          <a:ln w="12700">
            <a:solidFill>
              <a:srgbClr val="2EAD7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30768" y="16642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1E34"/>
                </a:solidFill>
              </a:rPr>
              <a:t>Решение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30768" y="2020824"/>
            <a:ext cx="292608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65758B"/>
                </a:solidFill>
              </a:rPr>
              <a:t>Данные об автомобилях разделены на марку, модель, поколение и модификацию.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822960" y="3794760"/>
            <a:ext cx="14173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5240">
            <a:solidFill>
              <a:srgbClr val="2267B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3922776"/>
            <a:ext cx="1271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0B1E34"/>
                </a:solidFill>
              </a:rPr>
              <a:t>Марка</a:t>
            </a:r>
            <a:endParaRPr lang="en-US" sz="1120" dirty="0"/>
          </a:p>
        </p:txBody>
      </p:sp>
      <p:sp>
        <p:nvSpPr>
          <p:cNvPr id="21" name="Text 19"/>
          <p:cNvSpPr/>
          <p:nvPr/>
        </p:nvSpPr>
        <p:spPr>
          <a:xfrm>
            <a:off x="914400" y="423367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5758B"/>
                </a:solidFill>
              </a:rPr>
              <a:t>Mercedes-Benz</a:t>
            </a:r>
            <a:endParaRPr lang="en-US" sz="830" dirty="0"/>
          </a:p>
        </p:txBody>
      </p:sp>
      <p:sp>
        <p:nvSpPr>
          <p:cNvPr id="22" name="Shape 20"/>
          <p:cNvSpPr/>
          <p:nvPr/>
        </p:nvSpPr>
        <p:spPr>
          <a:xfrm>
            <a:off x="2240280" y="4206240"/>
            <a:ext cx="594360" cy="0"/>
          </a:xfrm>
          <a:prstGeom prst="line">
            <a:avLst/>
          </a:prstGeom>
          <a:noFill/>
          <a:ln w="17780">
            <a:solidFill>
              <a:srgbClr val="98A6B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834640" y="3794760"/>
            <a:ext cx="14173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5240">
            <a:solidFill>
              <a:srgbClr val="2267B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07792" y="3922776"/>
            <a:ext cx="1271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0B1E34"/>
                </a:solidFill>
              </a:rPr>
              <a:t>Модель</a:t>
            </a:r>
            <a:endParaRPr lang="en-US" sz="1120" dirty="0"/>
          </a:p>
        </p:txBody>
      </p:sp>
      <p:sp>
        <p:nvSpPr>
          <p:cNvPr id="25" name="Text 23"/>
          <p:cNvSpPr/>
          <p:nvPr/>
        </p:nvSpPr>
        <p:spPr>
          <a:xfrm>
            <a:off x="2926080" y="423367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5758B"/>
                </a:solidFill>
              </a:rPr>
              <a:t>E-Class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>
            <a:off x="4251960" y="4206240"/>
            <a:ext cx="594360" cy="0"/>
          </a:xfrm>
          <a:prstGeom prst="line">
            <a:avLst/>
          </a:prstGeom>
          <a:noFill/>
          <a:ln w="17780">
            <a:solidFill>
              <a:srgbClr val="98A6B6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846320" y="3794760"/>
            <a:ext cx="14173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5240">
            <a:solidFill>
              <a:srgbClr val="2267B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19472" y="3922776"/>
            <a:ext cx="1271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0B1E34"/>
                </a:solidFill>
              </a:rPr>
              <a:t>Поколение</a:t>
            </a:r>
            <a:endParaRPr lang="en-US" sz="1120" dirty="0"/>
          </a:p>
        </p:txBody>
      </p:sp>
      <p:sp>
        <p:nvSpPr>
          <p:cNvPr id="29" name="Text 27"/>
          <p:cNvSpPr/>
          <p:nvPr/>
        </p:nvSpPr>
        <p:spPr>
          <a:xfrm>
            <a:off x="4937760" y="423367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5758B"/>
                </a:solidFill>
              </a:rPr>
              <a:t>W210</a:t>
            </a:r>
            <a:endParaRPr lang="en-US" sz="830" dirty="0"/>
          </a:p>
        </p:txBody>
      </p:sp>
      <p:sp>
        <p:nvSpPr>
          <p:cNvPr id="30" name="Shape 28"/>
          <p:cNvSpPr/>
          <p:nvPr/>
        </p:nvSpPr>
        <p:spPr>
          <a:xfrm>
            <a:off x="6263640" y="4206240"/>
            <a:ext cx="594360" cy="0"/>
          </a:xfrm>
          <a:prstGeom prst="line">
            <a:avLst/>
          </a:prstGeom>
          <a:noFill/>
          <a:ln w="17780">
            <a:solidFill>
              <a:srgbClr val="98A6B6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858000" y="3794760"/>
            <a:ext cx="16916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5240">
            <a:solidFill>
              <a:srgbClr val="2267B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31152" y="3922776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0B1E34"/>
                </a:solidFill>
              </a:rPr>
              <a:t>Модификация</a:t>
            </a:r>
            <a:endParaRPr lang="en-US" sz="1120" dirty="0"/>
          </a:p>
        </p:txBody>
      </p:sp>
      <p:sp>
        <p:nvSpPr>
          <p:cNvPr id="33" name="Text 31"/>
          <p:cNvSpPr/>
          <p:nvPr/>
        </p:nvSpPr>
        <p:spPr>
          <a:xfrm>
            <a:off x="6949440" y="4233672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5758B"/>
                </a:solidFill>
              </a:rPr>
              <a:t>2.0 MT</a:t>
            </a:r>
            <a:endParaRPr lang="en-US" sz="830" dirty="0"/>
          </a:p>
        </p:txBody>
      </p:sp>
      <p:sp>
        <p:nvSpPr>
          <p:cNvPr id="34" name="Shape 32"/>
          <p:cNvSpPr/>
          <p:nvPr/>
        </p:nvSpPr>
        <p:spPr>
          <a:xfrm>
            <a:off x="8549640" y="4206240"/>
            <a:ext cx="594360" cy="0"/>
          </a:xfrm>
          <a:prstGeom prst="line">
            <a:avLst/>
          </a:prstGeom>
          <a:noFill/>
          <a:ln w="17780">
            <a:solidFill>
              <a:srgbClr val="98A6B6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9144000" y="3794760"/>
            <a:ext cx="21488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5240">
            <a:solidFill>
              <a:srgbClr val="2EAD7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217152" y="3922776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0B1E34"/>
                </a:solidFill>
              </a:rPr>
              <a:t>Запчасти</a:t>
            </a:r>
            <a:endParaRPr lang="en-US" sz="1120" dirty="0"/>
          </a:p>
        </p:txBody>
      </p:sp>
      <p:sp>
        <p:nvSpPr>
          <p:cNvPr id="37" name="Text 35"/>
          <p:cNvSpPr/>
          <p:nvPr/>
        </p:nvSpPr>
        <p:spPr>
          <a:xfrm>
            <a:off x="9235440" y="423367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5758B"/>
                </a:solidFill>
              </a:rPr>
              <a:t>артикул, OEM</a:t>
            </a:r>
            <a:endParaRPr lang="en-US" sz="830" dirty="0"/>
          </a:p>
        </p:txBody>
      </p:sp>
      <p:sp>
        <p:nvSpPr>
          <p:cNvPr id="38" name="Text 36"/>
          <p:cNvSpPr/>
          <p:nvPr/>
        </p:nvSpPr>
        <p:spPr>
          <a:xfrm>
            <a:off x="1005840" y="56692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1E34"/>
                </a:solidFill>
              </a:rPr>
              <a:t>Примеры автомобилей: Mercedes-Benz E-Class W210, Chevrolet Blazer S15, Honda CR-V RD1, Volkswagen Transporter T4.</a:t>
            </a:r>
            <a:endParaRPr lang="en-US" sz="125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C8A9C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0" b="1" dirty="0">
                <a:solidFill>
                  <a:srgbClr val="2267B1"/>
                </a:solidFill>
              </a:rPr>
              <a:t>СЛОБОДСКОЙ КОЛЛЕДЖ ПЕДАГОГИКИ И СОЦИАЛЬНЫХ ОТНОШЕНИЙ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566928" y="283464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267B1"/>
                </a:solidFill>
              </a:rPr>
              <a:t>2. ОБЪЕКТЫ И АТРИБУТЫ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566928" y="585216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0B1E3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Выделенные объекты конфигурации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107899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5758B"/>
                </a:solidFill>
              </a:rPr>
              <a:t>Справочники, документы, регистры, отчеты и обработки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6565392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4A6"/>
                </a:solidFill>
              </a:rPr>
              <a:t>Производственная практика • 1С:Предприятие • учет и подбор автозапчастей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685800" y="1417320"/>
            <a:ext cx="3627120" cy="518160"/>
          </a:xfrm>
          <a:prstGeom prst="rect">
            <a:avLst/>
          </a:prstGeom>
          <a:solidFill>
            <a:srgbClr val="2267B1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463040"/>
            <a:ext cx="3535680" cy="4267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FFFFFF"/>
                </a:solidFill>
              </a:rPr>
              <a:t>Группа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4312920" y="1417320"/>
            <a:ext cx="3627120" cy="518160"/>
          </a:xfrm>
          <a:prstGeom prst="rect">
            <a:avLst/>
          </a:prstGeom>
          <a:solidFill>
            <a:srgbClr val="2267B1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58640" y="1463040"/>
            <a:ext cx="3535680" cy="4267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FFFFFF"/>
                </a:solidFill>
              </a:rPr>
              <a:t>Объекты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940040" y="1417320"/>
            <a:ext cx="3627120" cy="518160"/>
          </a:xfrm>
          <a:prstGeom prst="rect">
            <a:avLst/>
          </a:prstGeom>
          <a:solidFill>
            <a:srgbClr val="2267B1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85760" y="1463040"/>
            <a:ext cx="3535680" cy="4267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FFFFFF"/>
                </a:solidFill>
              </a:rPr>
              <a:t>Назначение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685800" y="1935480"/>
            <a:ext cx="3627120" cy="5181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1981200"/>
            <a:ext cx="3535680" cy="4267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Справочники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4312920" y="1935480"/>
            <a:ext cx="3627120" cy="5181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58640" y="1981200"/>
            <a:ext cx="3535680" cy="4267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Номенклатура, клиенты, автомобили, поставщики, склады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7940040" y="1935480"/>
            <a:ext cx="3627120" cy="5181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85760" y="1981200"/>
            <a:ext cx="3535680" cy="4267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Хранение постоянных данных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685800" y="2453640"/>
            <a:ext cx="3627120" cy="5181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2499360"/>
            <a:ext cx="3535680" cy="4267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Документы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4312920" y="2453640"/>
            <a:ext cx="3627120" cy="5181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58640" y="2499360"/>
            <a:ext cx="3535680" cy="4267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Поступление, реализация, заказ, перемещение, списание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7940040" y="2453640"/>
            <a:ext cx="3627120" cy="5181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85760" y="2499360"/>
            <a:ext cx="3535680" cy="4267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Регистрация операций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685800" y="2971800"/>
            <a:ext cx="3627120" cy="5181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3017520"/>
            <a:ext cx="3535680" cy="4267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Регистры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4312920" y="2971800"/>
            <a:ext cx="3627120" cy="5181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58640" y="3017520"/>
            <a:ext cx="3535680" cy="4267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Совместимость, остатки, продажи, закупки, цены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7940040" y="2971800"/>
            <a:ext cx="3627120" cy="5181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85760" y="3017520"/>
            <a:ext cx="3535680" cy="4267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Хранение учетных данных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685800" y="3489960"/>
            <a:ext cx="3627120" cy="5181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3535680"/>
            <a:ext cx="3535680" cy="4267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Отчеты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4312920" y="3489960"/>
            <a:ext cx="3627120" cy="5181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58640" y="3535680"/>
            <a:ext cx="3535680" cy="4267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Остатки, продажи, закупки, подбор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7940040" y="3489960"/>
            <a:ext cx="3627120" cy="5181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985760" y="3535680"/>
            <a:ext cx="3535680" cy="4267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Анализ информации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685800" y="4008120"/>
            <a:ext cx="3627120" cy="5181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4053840"/>
            <a:ext cx="3535680" cy="4267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Обработки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4312920" y="4008120"/>
            <a:ext cx="3627120" cy="5181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58640" y="4053840"/>
            <a:ext cx="3535680" cy="4267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Подбор и загрузка данных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7940040" y="4008120"/>
            <a:ext cx="3627120" cy="5181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85760" y="4053840"/>
            <a:ext cx="3535680" cy="4267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Интерактивные действия</a:t>
            </a:r>
            <a:endParaRPr lang="en-US" sz="88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C8A9C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ADEAE110-21D9-17EE-DABC-4D580BA213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7141"/>
          <a:stretch/>
        </p:blipFill>
        <p:spPr>
          <a:xfrm>
            <a:off x="881068" y="4617720"/>
            <a:ext cx="2139304" cy="177495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E992DB72-F5C2-155C-A4EF-202FDEDFE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1593" y="4610670"/>
            <a:ext cx="3627120" cy="181073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2" name="Рисунок 51">
            <a:extLst>
              <a:ext uri="{FF2B5EF4-FFF2-40B4-BE49-F238E27FC236}">
                <a16:creationId xmlns:a16="http://schemas.microsoft.com/office/drawing/2014/main" id="{3A97EBBA-D79A-BDEE-11E7-8E4938A577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7000" y="4612640"/>
            <a:ext cx="3578225" cy="179571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0" b="1" dirty="0">
                <a:solidFill>
                  <a:srgbClr val="2267B1"/>
                </a:solidFill>
              </a:rPr>
              <a:t>СЛОБОДСКОЙ КОЛЛЕДЖ ПЕДАГОГИКИ И СОЦИАЛЬНЫХ ОТНОШЕНИЙ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566928" y="283464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267B1"/>
                </a:solidFill>
              </a:rPr>
              <a:t>3. ПРОЕКТИРОВАНИЕ И НОРМАЛИЗАЦИЯ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566928" y="585216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0B1E3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ERD-модель и нормализация базы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107899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5758B"/>
                </a:solidFill>
              </a:rPr>
              <a:t>CASE-средство: ERD-схема в PlantUML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6565392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4A6"/>
                </a:solidFill>
              </a:rPr>
              <a:t>Производственная практика • 1С:Предприятие • учет и подбор автозапчастей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21208" y="1490472"/>
            <a:ext cx="38862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7E3F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1645920"/>
            <a:ext cx="73152" cy="1837944"/>
          </a:xfrm>
          <a:prstGeom prst="rect">
            <a:avLst/>
          </a:prstGeom>
          <a:solidFill>
            <a:srgbClr val="2267B1"/>
          </a:solidFill>
          <a:ln w="12700">
            <a:solidFill>
              <a:srgbClr val="2267B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3816" y="1645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1E34"/>
                </a:solidFill>
              </a:rPr>
              <a:t>Нормализация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13816" y="1761236"/>
            <a:ext cx="3520440" cy="1636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5758B"/>
                </a:solidFill>
              </a:rPr>
              <a:t>1НФ: атомарные поля.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65758B"/>
                </a:solidFill>
              </a:rPr>
              <a:t>2НФ: атрибуты зависят от ключа.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65758B"/>
                </a:solidFill>
              </a:rPr>
              <a:t>3НФ: справочные данные вынесены в отдельные сущности.</a:t>
            </a:r>
            <a:endParaRPr lang="en-US" sz="14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C8A9C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1955FA8B-0CCE-0E68-CA1F-7E02C41E7E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16" y="1078992"/>
            <a:ext cx="6839712" cy="523076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0" b="1" dirty="0">
                <a:solidFill>
                  <a:srgbClr val="2267B1"/>
                </a:solidFill>
              </a:rPr>
              <a:t>СЛОБОДСКОЙ КОЛЛЕДЖ ПЕДАГОГИКИ И СОЦИАЛЬНЫХ ОТНОШЕНИЙ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566928" y="283464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267B1"/>
                </a:solidFill>
              </a:rPr>
              <a:t>4. ПОСТРОЕНИЕ БД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566928" y="585216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0B1E3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Построение базы и заполнение данными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107899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5758B"/>
                </a:solidFill>
              </a:rPr>
              <a:t>Информационная база создана в 1С:Предприятие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6565392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4A6"/>
                </a:solidFill>
              </a:rPr>
              <a:t>Производственная практика • 1С:Предприятие • учет и подбор автозапчастей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777240" y="1508760"/>
            <a:ext cx="233172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3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6642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2267B1"/>
                </a:solidFill>
              </a:rPr>
              <a:t>1000+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2130552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5758B"/>
                </a:solidFill>
              </a:rPr>
              <a:t>записей в базе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29000" y="1508760"/>
            <a:ext cx="233172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3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16642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2EAD78"/>
                </a:solidFill>
              </a:rPr>
              <a:t>280+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3566160" y="2130552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5758B"/>
                </a:solidFill>
              </a:rPr>
              <a:t>позиций номенклатуры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80760" y="1508760"/>
            <a:ext cx="233172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3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16642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4C95D"/>
                </a:solidFill>
              </a:rPr>
              <a:t>11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217920" y="2130552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5758B"/>
                </a:solidFill>
              </a:rPr>
              <a:t>модификаций автомобилей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732520" y="1508760"/>
            <a:ext cx="233172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3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23960" y="16642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D94D45"/>
                </a:solidFill>
              </a:rPr>
              <a:t>6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8869680" y="2130552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5758B"/>
                </a:solidFill>
              </a:rPr>
              <a:t>резервных копий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77240" y="2706624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7E3F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112" y="2862072"/>
            <a:ext cx="73152" cy="1380744"/>
          </a:xfrm>
          <a:prstGeom prst="rect">
            <a:avLst/>
          </a:prstGeom>
          <a:solidFill>
            <a:srgbClr val="2267B1"/>
          </a:solidFill>
          <a:ln w="12700">
            <a:solidFill>
              <a:srgbClr val="2267B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2862072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1E34"/>
                </a:solidFill>
              </a:rPr>
              <a:t>Обработка загрузки демонстрационных данных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69848" y="3218688"/>
            <a:ext cx="4709160" cy="1033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65758B"/>
                </a:solidFill>
              </a:rPr>
              <a:t>Автоматически создает автомобили, клиентов, номенклатуру, производителей, склады, совместимость и документы.</a:t>
            </a:r>
            <a:endParaRPr lang="en-US" sz="1020" dirty="0"/>
          </a:p>
        </p:txBody>
      </p:sp>
      <p:sp>
        <p:nvSpPr>
          <p:cNvPr id="23" name="Shape 21"/>
          <p:cNvSpPr/>
          <p:nvPr/>
        </p:nvSpPr>
        <p:spPr>
          <a:xfrm>
            <a:off x="6400800" y="2706624"/>
            <a:ext cx="50749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7E3F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19672" y="2862072"/>
            <a:ext cx="73152" cy="1380744"/>
          </a:xfrm>
          <a:prstGeom prst="rect">
            <a:avLst/>
          </a:prstGeom>
          <a:solidFill>
            <a:srgbClr val="2EAD78"/>
          </a:solidFill>
          <a:ln w="12700">
            <a:solidFill>
              <a:srgbClr val="2EAD7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93408" y="28620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1E34"/>
                </a:solidFill>
              </a:rPr>
              <a:t>CRUD-операции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693408" y="3218688"/>
            <a:ext cx="4663440" cy="1033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65758B"/>
                </a:solidFill>
              </a:rPr>
              <a:t>Создание, просмотр, изменение и удаление выполняются через стандартные формы справочников и документов.</a:t>
            </a:r>
            <a:endParaRPr lang="en-US" sz="102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C8A9C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254004F2-2FA6-27E0-AFDD-A96113D334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5327" y="4503853"/>
            <a:ext cx="3764466" cy="188689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5982622C-25F2-A82F-066A-D982B5F1F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5020" y="4488613"/>
            <a:ext cx="3771900" cy="18929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0" b="1" dirty="0">
                <a:solidFill>
                  <a:srgbClr val="2267B1"/>
                </a:solidFill>
              </a:rPr>
              <a:t>СЛОБОДСКОЙ КОЛЛЕДЖ ПЕДАГОГИКИ И СОЦИАЛЬНЫХ ОТНОШЕНИЙ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566928" y="283464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267B1"/>
                </a:solidFill>
              </a:rPr>
              <a:t>5 И 7. ДОСТУП И ПОЛЬЗОВАТЕЛИ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566928" y="585216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0B1E3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Уровни доступа, группы пользователей и пароли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107899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5758B"/>
                </a:solidFill>
              </a:rPr>
              <a:t>Права разделены по обязанностям пользователей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6565392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4A6"/>
                </a:solidFill>
              </a:rPr>
              <a:t>Производственная практика • 1С:Предприятие • учет и подбор автозапчастей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685800" y="1417320"/>
            <a:ext cx="1828800" cy="502920"/>
          </a:xfrm>
          <a:prstGeom prst="rect">
            <a:avLst/>
          </a:prstGeom>
          <a:solidFill>
            <a:srgbClr val="2267B1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463040"/>
            <a:ext cx="173736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FFFFFF"/>
                </a:solidFill>
              </a:rPr>
              <a:t>Пользователь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2514600" y="1417320"/>
            <a:ext cx="1828800" cy="502920"/>
          </a:xfrm>
          <a:prstGeom prst="rect">
            <a:avLst/>
          </a:prstGeom>
          <a:solidFill>
            <a:srgbClr val="2267B1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0" y="1463040"/>
            <a:ext cx="173736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FFFFFF"/>
                </a:solidFill>
              </a:rPr>
              <a:t>Роль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4343400" y="1417320"/>
            <a:ext cx="1828800" cy="502920"/>
          </a:xfrm>
          <a:prstGeom prst="rect">
            <a:avLst/>
          </a:prstGeom>
          <a:solidFill>
            <a:srgbClr val="2267B1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0" y="1463040"/>
            <a:ext cx="173736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FFFFFF"/>
                </a:solidFill>
              </a:rPr>
              <a:t>Назначение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685800" y="1920240"/>
            <a:ext cx="1828800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1965960"/>
            <a:ext cx="173736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admin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2514600" y="1920240"/>
            <a:ext cx="1828800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0" y="1965960"/>
            <a:ext cx="173736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Администратор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4343400" y="1920240"/>
            <a:ext cx="1828800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1965960"/>
            <a:ext cx="173736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полный доступ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685800" y="2423160"/>
            <a:ext cx="1828800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manager1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2514600" y="2423160"/>
            <a:ext cx="1828800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0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Менеджер по продажам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343400" y="2423160"/>
            <a:ext cx="1828800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89120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клиенты, подбор, реализации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685800" y="2926080"/>
            <a:ext cx="1828800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2971800"/>
            <a:ext cx="173736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sklad1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514600" y="2926080"/>
            <a:ext cx="1828800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560320" y="2971800"/>
            <a:ext cx="173736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Кладовщик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4343400" y="2926080"/>
            <a:ext cx="1828800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89120" y="2971800"/>
            <a:ext cx="173736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поступления, склад, остатки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685800" y="3429000"/>
            <a:ext cx="1828800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3474720"/>
            <a:ext cx="173736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catalog1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2514600" y="3429000"/>
            <a:ext cx="1828800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60320" y="3474720"/>
            <a:ext cx="173736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Специалист по каталогу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4343400" y="3429000"/>
            <a:ext cx="1828800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0" y="3474720"/>
            <a:ext cx="173736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номенклатура и совместимость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685800" y="3931920"/>
            <a:ext cx="1828800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3977640"/>
            <a:ext cx="173736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director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2514600" y="3931920"/>
            <a:ext cx="1828800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60320" y="3977640"/>
            <a:ext cx="173736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Руководитель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4343400" y="3931920"/>
            <a:ext cx="1828800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89120" y="3977640"/>
            <a:ext cx="173736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просмотр отчетов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6629400" y="1417320"/>
            <a:ext cx="48463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E3F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748272" y="1572768"/>
            <a:ext cx="73152" cy="786384"/>
          </a:xfrm>
          <a:prstGeom prst="rect">
            <a:avLst/>
          </a:prstGeom>
          <a:solidFill>
            <a:srgbClr val="2EAD78"/>
          </a:solidFill>
          <a:ln w="12700">
            <a:solidFill>
              <a:srgbClr val="2EAD7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922008" y="157276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1E34"/>
                </a:solidFill>
              </a:rPr>
              <a:t>Регистрация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922008" y="1929384"/>
            <a:ext cx="44348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65758B"/>
                </a:solidFill>
              </a:rPr>
              <a:t>Каждый пользователь имеет отдельный логин и пароль. Вход выполняется через аутентификацию 1С.</a:t>
            </a:r>
            <a:endParaRPr lang="en-US" sz="1020" dirty="0"/>
          </a:p>
        </p:txBody>
      </p:sp>
      <p:sp>
        <p:nvSpPr>
          <p:cNvPr id="47" name="Shape 45"/>
          <p:cNvSpPr/>
          <p:nvPr/>
        </p:nvSpPr>
        <p:spPr>
          <a:xfrm>
            <a:off x="6629400" y="2788920"/>
            <a:ext cx="48463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E3F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748272" y="2944368"/>
            <a:ext cx="73152" cy="786384"/>
          </a:xfrm>
          <a:prstGeom prst="rect">
            <a:avLst/>
          </a:prstGeom>
          <a:solidFill>
            <a:srgbClr val="F4C95D"/>
          </a:solidFill>
          <a:ln w="12700">
            <a:solidFill>
              <a:srgbClr val="F4C95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922008" y="294436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1E34"/>
                </a:solidFill>
              </a:rPr>
              <a:t>Пароли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922008" y="3300984"/>
            <a:ext cx="44348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65758B"/>
                </a:solidFill>
              </a:rPr>
              <a:t>В учебной базе используются демонстрационные пароли; в реальной эксплуатации требуются сложные пароли.</a:t>
            </a:r>
            <a:endParaRPr lang="en-US" sz="102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C8A9C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  <p:pic>
        <p:nvPicPr>
          <p:cNvPr id="54" name="Рисунок 53">
            <a:extLst>
              <a:ext uri="{FF2B5EF4-FFF2-40B4-BE49-F238E27FC236}">
                <a16:creationId xmlns:a16="http://schemas.microsoft.com/office/drawing/2014/main" id="{AA4651E2-35AC-B294-8417-93401AF647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0400" y="4062730"/>
            <a:ext cx="4084320" cy="22072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5" name="Рисунок 54">
            <a:extLst>
              <a:ext uri="{FF2B5EF4-FFF2-40B4-BE49-F238E27FC236}">
                <a16:creationId xmlns:a16="http://schemas.microsoft.com/office/drawing/2014/main" id="{BB29B997-7662-0CC9-53E7-93B5FEC6C6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8560" y="4517136"/>
            <a:ext cx="4290568" cy="18794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0" b="1" dirty="0">
                <a:solidFill>
                  <a:srgbClr val="2267B1"/>
                </a:solidFill>
              </a:rPr>
              <a:t>СЛОБОДСКОЙ КОЛЛЕДЖ ПЕДАГОГИКИ И СОЦИАЛЬНЫХ ОТНОШЕНИЙ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566928" y="283464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267B1"/>
                </a:solidFill>
              </a:rPr>
              <a:t>6. ЗАПРОСЫ И ОТЧЕТЫ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566928" y="585216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0B1E3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Отчеты для анализа данных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107899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5758B"/>
                </a:solidFill>
              </a:rPr>
              <a:t>Отчеты построены через запросы и СКД 1С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6565392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4A6"/>
                </a:solidFill>
              </a:rPr>
              <a:t>Производственная практика • 1С:Предприятие • учет и подбор автозапчастей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685800" y="1444752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E3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600200"/>
            <a:ext cx="73152" cy="923544"/>
          </a:xfrm>
          <a:prstGeom prst="rect">
            <a:avLst/>
          </a:prstGeom>
          <a:solidFill>
            <a:srgbClr val="2267B1"/>
          </a:solidFill>
          <a:ln w="12700">
            <a:solidFill>
              <a:srgbClr val="2267B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1600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1E34"/>
                </a:solidFill>
              </a:rPr>
              <a:t>Остатки на складах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78408" y="1956816"/>
            <a:ext cx="283464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65758B"/>
                </a:solidFill>
              </a:rPr>
              <a:t>склад, запчасть, артикул, производитель, количество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4050792" y="1444752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E3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69664" y="1600200"/>
            <a:ext cx="73152" cy="923544"/>
          </a:xfrm>
          <a:prstGeom prst="rect">
            <a:avLst/>
          </a:prstGeom>
          <a:solidFill>
            <a:srgbClr val="2EAD78"/>
          </a:solidFill>
          <a:ln w="12700">
            <a:solidFill>
              <a:srgbClr val="2EAD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43400" y="1600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1E34"/>
                </a:solidFill>
              </a:rPr>
              <a:t>Продажи за период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343400" y="1956816"/>
            <a:ext cx="283464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65758B"/>
                </a:solidFill>
              </a:rPr>
              <a:t>клиент, автомобиль, товар, количество, сумма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7754112" y="1444752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E3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72984" y="1600200"/>
            <a:ext cx="73152" cy="923544"/>
          </a:xfrm>
          <a:prstGeom prst="rect">
            <a:avLst/>
          </a:prstGeom>
          <a:solidFill>
            <a:srgbClr val="F4C95D"/>
          </a:solidFill>
          <a:ln w="12700">
            <a:solidFill>
              <a:srgbClr val="F4C95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0" y="1600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1E34"/>
                </a:solidFill>
              </a:rPr>
              <a:t>Закупки у поставщиков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046720" y="1956816"/>
            <a:ext cx="283464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65758B"/>
                </a:solidFill>
              </a:rPr>
              <a:t>поставщик, склад, номенклатура, цена, сумма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685800" y="2801112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E3F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4672" y="2956560"/>
            <a:ext cx="73152" cy="923544"/>
          </a:xfrm>
          <a:prstGeom prst="rect">
            <a:avLst/>
          </a:prstGeom>
          <a:solidFill>
            <a:srgbClr val="D94D45"/>
          </a:solidFill>
          <a:ln w="12700">
            <a:solidFill>
              <a:srgbClr val="D94D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8408" y="2956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1E34"/>
                </a:solidFill>
              </a:rPr>
              <a:t>Подбор запчастей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78408" y="3313176"/>
            <a:ext cx="283464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65758B"/>
                </a:solidFill>
              </a:rPr>
              <a:t>модификация автомобиля и совместимые детали</a:t>
            </a:r>
            <a:endParaRPr lang="en-US" sz="1020" dirty="0"/>
          </a:p>
        </p:txBody>
      </p:sp>
      <p:sp>
        <p:nvSpPr>
          <p:cNvPr id="23" name="Shape 21"/>
          <p:cNvSpPr/>
          <p:nvPr/>
        </p:nvSpPr>
        <p:spPr>
          <a:xfrm>
            <a:off x="685800" y="4174395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E3F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4329843"/>
            <a:ext cx="73152" cy="923544"/>
          </a:xfrm>
          <a:prstGeom prst="rect">
            <a:avLst/>
          </a:prstGeom>
          <a:solidFill>
            <a:srgbClr val="39C7EF"/>
          </a:solidFill>
          <a:ln w="12700">
            <a:solidFill>
              <a:srgbClr val="39C7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8408" y="4329843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1E34"/>
                </a:solidFill>
              </a:rPr>
              <a:t>Контроль каталога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78408" y="4686459"/>
            <a:ext cx="283464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65758B"/>
                </a:solidFill>
              </a:rPr>
              <a:t>номенклатура, OEM, категории, производители</a:t>
            </a:r>
            <a:endParaRPr lang="en-US" sz="102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C8A9C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048617FD-CFC7-6716-E767-604035F693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5656" y="2761488"/>
            <a:ext cx="6894576" cy="34837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0" b="1" dirty="0">
                <a:solidFill>
                  <a:srgbClr val="2267B1"/>
                </a:solidFill>
              </a:rPr>
              <a:t>СЛОБОДСКОЙ КОЛЛЕДЖ ПЕДАГОГИКИ И СОЦИАЛЬНЫХ ОТНОШЕНИЙ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566928" y="283464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267B1"/>
                </a:solidFill>
              </a:rPr>
              <a:t>8. РЕЗЕРВНОЕ КОПИРОВАНИЕ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566928" y="585216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0B1E3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Резервные копии и восстановление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107899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5758B"/>
                </a:solidFill>
              </a:rPr>
              <a:t>Создано не менее 6 копий информационной базы в формате .dt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6565392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4A6"/>
                </a:solidFill>
              </a:rPr>
              <a:t>Производственная практика • 1С:Предприятие • учет и подбор автозапчастей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777240" y="146304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E3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6112" y="1618488"/>
            <a:ext cx="73152" cy="923544"/>
          </a:xfrm>
          <a:prstGeom prst="rect">
            <a:avLst/>
          </a:prstGeom>
          <a:solidFill>
            <a:srgbClr val="2267B1"/>
          </a:solidFill>
          <a:ln w="12700">
            <a:solidFill>
              <a:srgbClr val="2267B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16184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1E34"/>
                </a:solidFill>
              </a:rPr>
              <a:t>Резервное копирование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69848" y="1975104"/>
            <a:ext cx="457200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65758B"/>
                </a:solidFill>
              </a:rPr>
              <a:t>Конфигуратор → Администрирование → Выгрузить информационную базу. Результат — файл .dt.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6400800" y="146304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E3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19672" y="1618488"/>
            <a:ext cx="73152" cy="923544"/>
          </a:xfrm>
          <a:prstGeom prst="rect">
            <a:avLst/>
          </a:prstGeom>
          <a:solidFill>
            <a:srgbClr val="2EAD78"/>
          </a:solidFill>
          <a:ln w="12700">
            <a:solidFill>
              <a:srgbClr val="2EAD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93408" y="16184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1E34"/>
                </a:solidFill>
              </a:rPr>
              <a:t>Восстановление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93408" y="1975104"/>
            <a:ext cx="457200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65758B"/>
                </a:solidFill>
              </a:rPr>
              <a:t>Создается новая база, затем выполняется команда «Загрузить информационную базу» из файла .dt.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777240" y="3063240"/>
            <a:ext cx="2834640" cy="378823"/>
          </a:xfrm>
          <a:prstGeom prst="rect">
            <a:avLst/>
          </a:prstGeom>
          <a:solidFill>
            <a:srgbClr val="2267B1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108960"/>
            <a:ext cx="2743200" cy="28738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FFFFFF"/>
                </a:solidFill>
              </a:rPr>
              <a:t>Файл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3611880" y="3063240"/>
            <a:ext cx="2834640" cy="378823"/>
          </a:xfrm>
          <a:prstGeom prst="rect">
            <a:avLst/>
          </a:prstGeom>
          <a:solidFill>
            <a:srgbClr val="2267B1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0" y="3108960"/>
            <a:ext cx="2743200" cy="28738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FFFFFF"/>
                </a:solidFill>
              </a:rPr>
              <a:t>Этап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777240" y="3442063"/>
            <a:ext cx="2834640" cy="37882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487783"/>
            <a:ext cx="2743200" cy="28738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AutoParts_01_Структура.dt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3611880" y="3442063"/>
            <a:ext cx="2834640" cy="37882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0" y="3487783"/>
            <a:ext cx="2743200" cy="28738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структура базы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777240" y="3820886"/>
            <a:ext cx="2834640" cy="37882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866606"/>
            <a:ext cx="2743200" cy="28738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AutoParts_02_Справочники.dt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3611880" y="3820886"/>
            <a:ext cx="2834640" cy="37882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0" y="3866606"/>
            <a:ext cx="2743200" cy="28738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справочники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777240" y="4199709"/>
            <a:ext cx="2834640" cy="37882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245429"/>
            <a:ext cx="2743200" cy="28738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AutoParts_03_ДокументыРегистры.dt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3611880" y="4199709"/>
            <a:ext cx="2834640" cy="37882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0" y="4245429"/>
            <a:ext cx="2743200" cy="28738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документы и регистры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777240" y="4578531"/>
            <a:ext cx="2834640" cy="37882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4624251"/>
            <a:ext cx="2743200" cy="28738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AutoParts_04_ОтчетыПрава.dt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3611880" y="4578531"/>
            <a:ext cx="2834640" cy="37882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0" y="4624251"/>
            <a:ext cx="2743200" cy="28738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отчеты и роли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777240" y="4957354"/>
            <a:ext cx="2834640" cy="37882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003074"/>
            <a:ext cx="2743200" cy="28738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AutoParts_05_ДемоДанные.dt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611880" y="4957354"/>
            <a:ext cx="2834640" cy="37882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0" y="5003074"/>
            <a:ext cx="2743200" cy="28738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демонстрационные данные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777240" y="5336177"/>
            <a:ext cx="2834640" cy="37882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2960" y="5381897"/>
            <a:ext cx="2743200" cy="28738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AutoParts_06_ФинальнаяВерсия.dt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3611880" y="5336177"/>
            <a:ext cx="2834640" cy="37882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0" y="5381897"/>
            <a:ext cx="2743200" cy="287383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82235"/>
                </a:solidFill>
              </a:rPr>
              <a:t>финальная версия</a:t>
            </a:r>
            <a:endParaRPr lang="en-US" sz="88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C8A9C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FE18CBC4-1D8C-02AB-8174-57E6B557B6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7633"/>
          <a:stretch/>
        </p:blipFill>
        <p:spPr>
          <a:xfrm>
            <a:off x="6592824" y="3210850"/>
            <a:ext cx="5247695" cy="269376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0" b="1" dirty="0">
                <a:solidFill>
                  <a:srgbClr val="2267B1"/>
                </a:solidFill>
              </a:rPr>
              <a:t>СЛОБОДСКОЙ КОЛЛЕДЖ ПЕДАГОГИКИ И СОЦИАЛЬНЫХ ОТНОШЕНИЙ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566928" y="283464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267B1"/>
                </a:solidFill>
              </a:rPr>
              <a:t>ДЕМОНСТРАЦИЯ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566928" y="585216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0B1E3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Демонстрация информационной базы 1С:Предприятие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66928" y="6565392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4A6"/>
                </a:solidFill>
              </a:rPr>
              <a:t>Производственная практика • 1С:Предприятие • учет и подбор автозапчастей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C8A9C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45C98FFA-9D3E-1C6C-9F02-5AA1325E5F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332119"/>
            <a:ext cx="5643535" cy="281736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34302DB2-81EE-D48A-E54A-0FF686835F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0136" y="1481491"/>
            <a:ext cx="5964936" cy="301402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AB3E3F05-9F5E-E269-FD48-FA4877F8DA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1761" y="3268106"/>
            <a:ext cx="6100477" cy="30615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0" b="1" dirty="0">
                <a:solidFill>
                  <a:srgbClr val="2267B1"/>
                </a:solidFill>
              </a:rPr>
              <a:t>СЛОБОДСКОЙ КОЛЛЕДЖ ПЕДАГОГИКИ И СОЦИАЛЬНЫХ ОТНОШЕНИЙ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566928" y="283464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267B1"/>
                </a:solidFill>
              </a:rPr>
              <a:t>ИТОГИ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566928" y="585216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0B1E3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Итоги работы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95554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5758B"/>
                </a:solidFill>
              </a:rPr>
              <a:t>Поставленные задачи производственной практики выполнены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6565392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4A6"/>
                </a:solidFill>
              </a:rPr>
              <a:t>Производственная практика • 1С:Предприятие • учет и подбор автозапчастей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777240" y="1508760"/>
            <a:ext cx="324612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7E3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41832" y="16916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67B1"/>
                </a:solidFill>
              </a:rPr>
              <a:t>✓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554480" y="1801368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B1E34"/>
                </a:solidFill>
              </a:rPr>
              <a:t>реализована конфигурация 1С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80560" y="1508760"/>
            <a:ext cx="324612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7E3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16916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EAD78"/>
                </a:solidFill>
              </a:rPr>
              <a:t>✓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257800" y="1801368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B1E34"/>
                </a:solidFill>
              </a:rPr>
              <a:t>создана структура данных и ERD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83880" y="1508760"/>
            <a:ext cx="324612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7E3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48472" y="16916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4C95D"/>
                </a:solidFill>
              </a:rPr>
              <a:t>✓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8961120" y="1801368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B1E34"/>
                </a:solidFill>
              </a:rPr>
              <a:t>заполнено более 1000 записей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606040" y="3657600"/>
            <a:ext cx="324612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7E3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70632" y="38404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94D45"/>
                </a:solidFill>
              </a:rPr>
              <a:t>✓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3383280" y="3950208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B1E34"/>
                </a:solidFill>
              </a:rPr>
              <a:t>реализованы CRUD, отчеты и подбор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83680" y="3657600"/>
            <a:ext cx="324612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7E3F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48272" y="38404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9C7EF"/>
                </a:solidFill>
              </a:rPr>
              <a:t>✓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7360920" y="3950208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B1E34"/>
                </a:solidFill>
              </a:rPr>
              <a:t>настроены роли, пользователи и резервные копии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C8A9C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785</Words>
  <Application>Microsoft Office PowerPoint</Application>
  <PresentationFormat>Широкоэкранный</PresentationFormat>
  <Paragraphs>181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Учет и подбор автозапчастей</dc:title>
  <dc:subject>Производственная практика</dc:subject>
  <dc:creator>OpenAI</dc:creator>
  <cp:lastModifiedBy>silence quiescence</cp:lastModifiedBy>
  <cp:revision>2</cp:revision>
  <dcterms:created xsi:type="dcterms:W3CDTF">2026-05-26T06:08:39Z</dcterms:created>
  <dcterms:modified xsi:type="dcterms:W3CDTF">2026-05-26T06:32:02Z</dcterms:modified>
</cp:coreProperties>
</file>